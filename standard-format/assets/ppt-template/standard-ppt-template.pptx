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TimesNewRoman"/>
        <a:ea typeface="宋体"/>
        <a:cs typeface="TimesNewRoman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TimesNewRoman"/>
        <a:ea typeface="宋体"/>
        <a:cs typeface="TimesNewRoman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TimesNewRoman"/>
        <a:ea typeface="宋体"/>
        <a:cs typeface="TimesNewRoman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TimesNewRoman"/>
        <a:ea typeface="宋体"/>
        <a:cs typeface="TimesNewRoman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TimesNewRoman"/>
        <a:ea typeface="宋体"/>
        <a:cs typeface="TimesNewRoman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TimesNewRoman"/>
        <a:ea typeface="宋体"/>
        <a:cs typeface="TimesNewRoman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TimesNewRoman"/>
        <a:ea typeface="宋体"/>
        <a:cs typeface="TimesNewRoman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TimesNewRoman"/>
        <a:ea typeface="宋体"/>
        <a:cs typeface="TimesNewRoman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TimesNewRoman"/>
        <a:ea typeface="宋体"/>
        <a:cs typeface="TimesNew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NewRoman"/>
          <a:ea typeface="宋体"/>
          <a:cs typeface="TimesNew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NewRoman"/>
          <a:ea typeface="宋体"/>
          <a:cs typeface="TimesNew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NewRoman"/>
          <a:ea typeface="宋体"/>
          <a:cs typeface="TimesNew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NewRoman"/>
          <a:ea typeface="宋体"/>
          <a:cs typeface="TimesNew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NewRoman"/>
          <a:ea typeface="宋体"/>
          <a:cs typeface="TimesNew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NewRoman"/>
          <a:ea typeface="宋体"/>
          <a:cs typeface="TimesNew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NewRoman"/>
          <a:ea typeface="宋体"/>
          <a:cs typeface="TimesNew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NewRoman"/>
          <a:ea typeface="宋体"/>
          <a:cs typeface="TimesNew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NewRoman"/>
          <a:ea typeface="宋体"/>
          <a:cs typeface="TimesNew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TimesNewRoman"/>
          <a:ea typeface="宋体"/>
          <a:cs typeface="TimesNewRoman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TimesNewRoman"/>
          <a:ea typeface="宋体"/>
          <a:cs typeface="TimesNewRoman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TimesNewRoman"/>
          <a:ea typeface="宋体"/>
          <a:cs typeface="TimesNewRoman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TimesNewRoman"/>
          <a:ea typeface="宋体"/>
          <a:cs typeface="TimesNewRoman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TimesNewRoman"/>
          <a:ea typeface="宋体"/>
          <a:cs typeface="TimesNewRoman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TimesNewRoman"/>
          <a:ea typeface="宋体"/>
          <a:cs typeface="TimesNewRoman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TimesNewRoman"/>
          <a:ea typeface="宋体"/>
          <a:cs typeface="TimesNewRoman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TimesNewRoman"/>
          <a:ea typeface="宋体"/>
          <a:cs typeface="TimesNewRoman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TimesNewRoman"/>
          <a:ea typeface="宋体"/>
          <a:cs typeface="TimesNewRoman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TimesNewRoman"/>
          <a:ea typeface="宋体"/>
          <a:cs typeface="TimesNew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8102E"/>
                </a:solidFill>
                <a:latin typeface="宋体"/>
              </a:rPr>
              <a:t>报告标题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9536"/>
            <a:ext cx="11155680" cy="18288"/>
          </a:xfrm>
          <a:prstGeom prst="rect">
            <a:avLst/>
          </a:prstGeom>
          <a:solidFill>
            <a:srgbClr val="D99A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宋体"/>
              </a:rPr>
              <a:t>数据来源：按项目填写；样本区间：YYYY-MM-DD至YYYY-MM-DD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Arial"/>
              </a:rPr>
              <a:t>第1页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C8102E"/>
                </a:solidFill>
                <a:latin typeface="宋体"/>
              </a:rPr>
              <a:t>报告标题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E1B18"/>
                </a:solidFill>
                <a:latin typeface="宋体"/>
              </a:rPr>
              <a:t>研究主题、汇报机构或团队、日期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18"/>
                </a:solidFill>
                <a:latin typeface="宋体"/>
              </a:rPr>
              <a:t>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9536"/>
            <a:ext cx="11155680" cy="18288"/>
          </a:xfrm>
          <a:prstGeom prst="rect">
            <a:avLst/>
          </a:prstGeom>
          <a:solidFill>
            <a:srgbClr val="D99A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宋体"/>
              </a:rPr>
              <a:t>数据来源：按项目填写；样本区间：YYYY-MM-DD至YYYY-MM-DD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Arial"/>
              </a:rPr>
              <a:t>第2页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9692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E1B18"/>
                </a:solidFill>
                <a:latin typeface="宋体"/>
              </a:rPr>
              <a:t>一句话写清最终判断。证据和限制必须同页呈现。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C8102E"/>
                </a:solidFill>
                <a:latin typeface="Arial"/>
              </a:rPr>
              <a:t>核心值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87168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073"/>
                </a:solidFill>
                <a:latin typeface="宋体"/>
              </a:rPr>
              <a:t>核心指标一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0116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A6FB0"/>
                </a:solidFill>
                <a:latin typeface="Arial"/>
              </a:rPr>
              <a:t>核心值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487168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073"/>
                </a:solidFill>
                <a:latin typeface="宋体"/>
              </a:rPr>
              <a:t>核心指标二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0116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A6FB0"/>
                </a:solidFill>
                <a:latin typeface="Arial"/>
              </a:rPr>
              <a:t>核心值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487168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073"/>
                </a:solidFill>
                <a:latin typeface="宋体"/>
              </a:rPr>
              <a:t>核心指标三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0116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A6FB0"/>
                </a:solidFill>
                <a:latin typeface="Arial"/>
              </a:rPr>
              <a:t>核心值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87168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C8073"/>
                </a:solidFill>
                <a:latin typeface="宋体"/>
              </a:rPr>
              <a:t>核心指标四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18"/>
                </a:solidFill>
                <a:latin typeface="宋体"/>
              </a:rPr>
              <a:t>策略定义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9536"/>
            <a:ext cx="11155680" cy="18288"/>
          </a:xfrm>
          <a:prstGeom prst="rect">
            <a:avLst/>
          </a:prstGeom>
          <a:solidFill>
            <a:srgbClr val="D99A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宋体"/>
              </a:rPr>
              <a:t>数据来源：按项目填写；样本区间：YYYY-MM-DD至YYYY-MM-DD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Arial"/>
              </a:rPr>
              <a:t>第3页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743200" cy="146304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20240"/>
            <a:ext cx="25237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数据输入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E1B18"/>
                </a:solidFill>
                <a:latin typeface="宋体"/>
              </a:rPr>
              <a:t>填写变量、规则、约束和执行口径。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2743200" cy="146304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920240"/>
            <a:ext cx="25237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信号处理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8716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E1B18"/>
                </a:solidFill>
                <a:latin typeface="宋体"/>
              </a:rPr>
              <a:t>填写变量、规则、约束和执行口径。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2743200" cy="146304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920240"/>
            <a:ext cx="25237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组合输出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487168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1E1B18"/>
                </a:solidFill>
                <a:latin typeface="宋体"/>
              </a:rPr>
              <a:t>填写变量、规则、约束和执行口径。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18"/>
                </a:solidFill>
                <a:latin typeface="宋体"/>
              </a:rPr>
              <a:t>表格组件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9536"/>
            <a:ext cx="11155680" cy="18288"/>
          </a:xfrm>
          <a:prstGeom prst="rect">
            <a:avLst/>
          </a:prstGeom>
          <a:solidFill>
            <a:srgbClr val="D99A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宋体"/>
              </a:rPr>
              <a:t>数据来源：按项目填写；样本区间：YYYY-MM-DD至YYYY-MM-DD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Arial"/>
              </a:rPr>
              <a:t>第4页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0835640" cy="114300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25880"/>
            <a:ext cx="10616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指标汇总表区域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606040"/>
            <a:ext cx="5212080" cy="182880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697480"/>
            <a:ext cx="49926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参数表区域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606040"/>
            <a:ext cx="5257800" cy="182880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697480"/>
            <a:ext cx="50383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长文本对比表区域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C8073"/>
                </a:solidFill>
                <a:latin typeface="宋体"/>
              </a:rPr>
              <a:t>超过8列或12行必须拆页，完整明细交给Excel。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18"/>
                </a:solidFill>
                <a:latin typeface="宋体"/>
              </a:rPr>
              <a:t>图表组件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9536"/>
            <a:ext cx="11155680" cy="18288"/>
          </a:xfrm>
          <a:prstGeom prst="rect">
            <a:avLst/>
          </a:prstGeom>
          <a:solidFill>
            <a:srgbClr val="D99A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宋体"/>
              </a:rPr>
              <a:t>数据来源：按项目填写；样本区间：YYYY-MM-DD至YYYY-MM-DD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Arial"/>
              </a:rPr>
              <a:t>第5页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5120640" cy="205740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25880"/>
            <a:ext cx="490118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累计净值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5120640" cy="205740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325880"/>
            <a:ext cx="490118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相对净值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657600"/>
            <a:ext cx="5120640" cy="205740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749039"/>
            <a:ext cx="490118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回撤路径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657600"/>
            <a:ext cx="5120640" cy="205740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3749039"/>
            <a:ext cx="490118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相对回撤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18"/>
                </a:solidFill>
                <a:latin typeface="宋体"/>
              </a:rPr>
              <a:t>稳健性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9536"/>
            <a:ext cx="11155680" cy="18288"/>
          </a:xfrm>
          <a:prstGeom prst="rect">
            <a:avLst/>
          </a:prstGeom>
          <a:solidFill>
            <a:srgbClr val="D99A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宋体"/>
              </a:rPr>
              <a:t>数据来源：按项目填写；样本区间：YYYY-MM-DD至YYYY-MM-DD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Arial"/>
              </a:rPr>
              <a:t>第6页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10835640" cy="96012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25880"/>
            <a:ext cx="106161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敏感性摘要表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423160"/>
            <a:ext cx="5212080" cy="310896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514600"/>
            <a:ext cx="49926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收益敏感性图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423160"/>
            <a:ext cx="5257800" cy="310896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514600"/>
            <a:ext cx="50383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回撤敏感性图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18"/>
                </a:solidFill>
                <a:latin typeface="宋体"/>
              </a:rPr>
              <a:t>结论边界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9536"/>
            <a:ext cx="11155680" cy="18288"/>
          </a:xfrm>
          <a:prstGeom prst="rect">
            <a:avLst/>
          </a:prstGeom>
          <a:solidFill>
            <a:srgbClr val="D99A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7772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宋体"/>
              </a:rPr>
              <a:t>数据来源：按项目填写；样本区间：YYYY-MM-DD至YYYY-MM-DD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8C8073"/>
                </a:solidFill>
                <a:latin typeface="Arial"/>
              </a:rPr>
              <a:t>第7页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5120640" cy="347472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25880"/>
            <a:ext cx="4901183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适用条件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5257800" cy="3474720"/>
          </a:xfrm>
          <a:prstGeom prst="rect">
            <a:avLst/>
          </a:prstGeom>
          <a:solidFill>
            <a:srgbClr val="FAF4EA"/>
          </a:solidFill>
          <a:ln>
            <a:solidFill>
              <a:srgbClr val="EBE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325880"/>
            <a:ext cx="50383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A6FB0"/>
                </a:solidFill>
                <a:latin typeface="宋体"/>
              </a:rPr>
              <a:t>失效情景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1B18"/>
      </a:dk1>
      <a:lt1>
        <a:srgbClr val="FFFFFF"/>
      </a:lt1>
      <a:dk2>
        <a:srgbClr val="174A7C"/>
      </a:dk2>
      <a:lt2>
        <a:srgbClr val="FBF8F3"/>
      </a:lt2>
      <a:accent1>
        <a:srgbClr val="C8102E"/>
      </a:accent1>
      <a:accent2>
        <a:srgbClr val="2A6FB0"/>
      </a:accent2>
      <a:accent3>
        <a:srgbClr val="D99A2B"/>
      </a:accent3>
      <a:accent4>
        <a:srgbClr val="1F8A5B"/>
      </a:accent4>
      <a:accent5>
        <a:srgbClr val="6B2E8A"/>
      </a:accent5>
      <a:accent6>
        <a:srgbClr val="B4A897"/>
      </a:accent6>
      <a:hlink>
        <a:srgbClr val="2A6FB0"/>
      </a:hlink>
      <a:folHlink>
        <a:srgbClr val="6B2E8A"/>
      </a:folHlink>
    </a:clrScheme>
    <a:fontScheme name="Office">
      <a:majorFont>
        <a:latin typeface="Arial"/>
        <a:ea typeface=""/>
        <a:cs typeface=""/>
        <a:font script="Jpan" typeface="宋体"/>
        <a:font script="Hang" typeface="宋体"/>
        <a:font script="Hans" typeface="宋体"/>
        <a:font script="Hant" typeface="宋体"/>
        <a:font script="Arab" typeface="TimesNewRoman"/>
        <a:font script="Hebr" typeface="TimesNewRoman"/>
        <a:font script="Thai" typeface="TimesNewRoman"/>
        <a:font script="Ethi" typeface="TimesNewRoman"/>
        <a:font script="Beng" typeface="TimesNewRoman"/>
        <a:font script="Gujr" typeface="TimesNewRoman"/>
        <a:font script="Khmr" typeface="TimesNewRoman"/>
        <a:font script="Knda" typeface="TimesNewRoman"/>
        <a:font script="Guru" typeface="TimesNewRoman"/>
        <a:font script="Cans" typeface="TimesNewRoman"/>
        <a:font script="Cher" typeface="TimesNewRoman"/>
        <a:font script="Yiii" typeface="TimesNewRoman"/>
        <a:font script="Tibt" typeface="TimesNewRoman"/>
        <a:font script="Thaa" typeface="TimesNewRoman"/>
        <a:font script="Deva" typeface="TimesNewRoman"/>
        <a:font script="Telu" typeface="TimesNewRoman"/>
        <a:font script="Taml" typeface="TimesNewRoman"/>
        <a:font script="Syrc" typeface="TimesNewRoman"/>
        <a:font script="Orya" typeface="TimesNewRoman"/>
        <a:font script="Mlym" typeface="TimesNewRoman"/>
        <a:font script="Laoo" typeface="TimesNewRoman"/>
        <a:font script="Sinh" typeface="TimesNewRoman"/>
        <a:font script="Mong" typeface="TimesNewRoman"/>
        <a:font script="Viet" typeface="TimesNewRoman"/>
        <a:font script="Uigh" typeface="TimesNewRoman"/>
        <a:font script="Geor" typeface="TimesNewRoman"/>
      </a:majorFont>
      <a:minorFont>
        <a:latin typeface="Arial"/>
        <a:ea typeface=""/>
        <a:cs typeface=""/>
        <a:font script="Jpan" typeface="宋体"/>
        <a:font script="Hang" typeface="宋体"/>
        <a:font script="Hans" typeface="宋体"/>
        <a:font script="Hant" typeface="宋体"/>
        <a:font script="Arab" typeface="Arial"/>
        <a:font script="Hebr" typeface="Arial"/>
        <a:font script="Thai" typeface="TimesNewRoman"/>
        <a:font script="Ethi" typeface="TimesNewRoman"/>
        <a:font script="Beng" typeface="TimesNewRoman"/>
        <a:font script="Gujr" typeface="TimesNewRoman"/>
        <a:font script="Khmr" typeface="TimesNewRoman"/>
        <a:font script="Knda" typeface="TimesNewRoman"/>
        <a:font script="Guru" typeface="TimesNewRoman"/>
        <a:font script="Cans" typeface="TimesNewRoman"/>
        <a:font script="Cher" typeface="TimesNewRoman"/>
        <a:font script="Yiii" typeface="TimesNewRoman"/>
        <a:font script="Tibt" typeface="TimesNewRoman"/>
        <a:font script="Thaa" typeface="TimesNewRoman"/>
        <a:font script="Deva" typeface="TimesNewRoman"/>
        <a:font script="Telu" typeface="TimesNewRoman"/>
        <a:font script="Taml" typeface="TimesNewRoman"/>
        <a:font script="Syrc" typeface="TimesNewRoman"/>
        <a:font script="Orya" typeface="TimesNewRoman"/>
        <a:font script="Mlym" typeface="TimesNewRoman"/>
        <a:font script="Laoo" typeface="TimesNewRoman"/>
        <a:font script="Sinh" typeface="TimesNewRoman"/>
        <a:font script="Mong" typeface="TimesNewRoman"/>
        <a:font script="Viet" typeface="Arial"/>
        <a:font script="Uigh" typeface="TimesNewRoman"/>
        <a:font script="Geor" typeface="TimesNew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